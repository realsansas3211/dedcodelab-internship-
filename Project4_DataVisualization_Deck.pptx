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4 — Optional Mastery Phase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Orders Dataset  ·  2023–2025  ·  DecodeLabs Batch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Snapshot — 1,200 Orders, $1.26M Revenue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144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$1.26M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06040" y="1783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$1,054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91440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0972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783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+ Return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Stable revenue base with healthy AOV. Complication: Nearly half of demand never becomes fulfilled revenue.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 Framework  ·  Situation → Complication → Resolution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+ Returned orders account for 41.4% of all volume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Nearly half of demand never becomes fulfilled revenue — the single largest operational red flag</a:t>
            </a:r>
            <a:endParaRPr lang="en-US" sz="1200" dirty="0"/>
          </a:p>
        </p:txBody>
      </p:sp>
      <p:pic>
        <p:nvPicPr>
          <p:cNvPr id="4" name="Image 0" descr="viz_01_statu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960120"/>
            <a:ext cx="80467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Cancelled &amp; Returned orders put $520k (41%) of revenue at risk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orders are also leaking into Cancelled/Returned status, compounding the impact</a:t>
            </a:r>
            <a:endParaRPr lang="en-US" sz="1200" dirty="0"/>
          </a:p>
        </p:txBody>
      </p:sp>
      <p:pic>
        <p:nvPicPr>
          <p:cNvPr id="4" name="Image 0" descr="viz_02_revenue_ri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960120"/>
            <a:ext cx="76809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Chair, Printer &amp; Laptop drive the majority of revenue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under-performs relative to order volume — review pricing and promotion strategy</a:t>
            </a:r>
            <a:endParaRPr lang="en-US" sz="1200" dirty="0"/>
          </a:p>
        </p:txBody>
      </p:sp>
      <p:pic>
        <p:nvPicPr>
          <p:cNvPr id="4" name="Image 0" descr="viz_03_produ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60120"/>
            <a:ext cx="78638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volume is stable but not growing (2023–2025 H1)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requires new acquisition levers beyond the current channel mix</a:t>
            </a:r>
            <a:endParaRPr lang="en-US" sz="1200" dirty="0"/>
          </a:p>
        </p:txBody>
      </p:sp>
      <p:pic>
        <p:nvPicPr>
          <p:cNvPr id="4" name="Image 0" descr="viz_04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is the strongest acquisition channel by revenue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&amp; Referral lag — prioritize creative testing and budget reallocation</a:t>
            </a:r>
            <a:endParaRPr lang="en-US" sz="1200" dirty="0"/>
          </a:p>
        </p:txBody>
      </p:sp>
      <p:pic>
        <p:nvPicPr>
          <p:cNvPr id="4" name="Image 0" descr="viz_05_refer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60120"/>
            <a:ext cx="78638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delivers the highest Average Order Value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a seamless credit-card checkout experience to protect and grow AOV</a:t>
            </a:r>
            <a:endParaRPr lang="en-US" sz="1200" dirty="0"/>
          </a:p>
        </p:txBody>
      </p:sp>
      <p:pic>
        <p:nvPicPr>
          <p:cNvPr id="4" name="Image 0" descr="viz_07_pay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960120"/>
            <a:ext cx="786384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FREESHIP &amp; SAVE10 associate with modestly higher AOV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Coupons appear to support conversion more than basket-building — test free-shipping thresholds</a:t>
            </a:r>
            <a:endParaRPr lang="en-US" sz="1200" dirty="0"/>
          </a:p>
        </p:txBody>
      </p:sp>
      <p:pic>
        <p:nvPicPr>
          <p:cNvPr id="4" name="Image 0" descr="viz_06_coup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960120"/>
            <a:ext cx="7498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High-value orders are driven by quantity × premium unit price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and grow the top-decile customer segment — several high-value orders already appear in Cancelled/Returned</a:t>
            </a:r>
            <a:endParaRPr lang="en-US" sz="1200" dirty="0"/>
          </a:p>
        </p:txBody>
      </p:sp>
      <p:pic>
        <p:nvPicPr>
          <p:cNvPr id="4" name="Image 0" descr="viz_08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960120"/>
            <a:ext cx="74980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— What We Should Do Next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14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886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the 41% fulfilment failure 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161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Cancelled + Returned by Product × Payment × Referral. Target a 15-point reduction within two quarters (~$190k+ annualised recovery).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745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847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high-value customers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176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top-decile TotalPrice cohort and design a VIP retention programme before more high-value orders leak.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834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807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Double-down on Instagram + Credit Card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1363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Instagram acquisition investment. Optimise checkout for Credit Card (highest AOV).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7947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767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Phone category &amp; coupon strategy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96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pricing/promotion for Phone. Replace blanket free shipping with threshold-based offers to protect margin.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Narrative (SCR)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$1.26M order book with healthy AOV.
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Complication: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of orders (and revenue) are cancelled or returned; growth has stalled.
</a:t>
            </a:r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 </a:t>
            </a:r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fulfilment leakage first, protect high-value customers, and scale the strongest channels.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DecodeLabs  ·  Project 4  ·  Batch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4 – Data Visualization: E-Commerce Insights</dc:title>
  <dc:subject>Boardroom-Ready Data Storytelling</dc:subject>
  <dc:creator>DecodeLabs Intern</dc:creator>
  <cp:lastModifiedBy>DecodeLabs Intern</cp:lastModifiedBy>
  <cp:revision>1</cp:revision>
  <dcterms:created xsi:type="dcterms:W3CDTF">2026-09-11T18:06:36Z</dcterms:created>
  <dcterms:modified xsi:type="dcterms:W3CDTF">2026-09-11T18:06:36Z</dcterms:modified>
</cp:coreProperties>
</file>